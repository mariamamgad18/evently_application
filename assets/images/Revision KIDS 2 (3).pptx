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56C892-EC27-9859-172F-D71CFBCADBAB}" v="6" dt="2025-10-01T01:50:11.876"/>
    <p1510:client id="{D70452E2-8E58-07CB-8B19-11E4C68DB22C}" v="1" dt="2025-10-02T18:13:51.185"/>
    <p1510:client id="{F9A48AF7-9171-F27B-7E18-4394E0862B77}" v="1" dt="2025-10-02T18:21:08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>
        <p:scale>
          <a:sx n="65" d="100"/>
          <a:sy n="65" d="100"/>
        </p:scale>
        <p:origin x="-1524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5678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7669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1272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75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6404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363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925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0634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9833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1968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5282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26C17-B82A-44AC-841F-7457688392DB}" type="datetimeFigureOut">
              <a:rPr lang="ar-EG" smtClean="0"/>
              <a:t>10/04/1447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9218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ordwall.net/resource/7539881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ordwall.net/resource/75398818/1%d9%85%d8%b1%d8%a7%d8%ac%d8%b9%d8%a9-%d9%81%d8%aa%d8%ad%d8%a9-%d9%83%d8%b3%d8%b1%d8%a9-%d8%b6%d9%85%d8%a9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ordwall.net/resource/7539881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ordwall.net/ar/resource/7815665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pPr marL="0" indent="0" algn="l">
              <a:buNone/>
            </a:pPr>
            <a:r>
              <a:rPr lang="ar-EG" dirty="0"/>
              <a:t> </a:t>
            </a:r>
            <a:r>
              <a:rPr lang="en-US" dirty="0"/>
              <a:t>Arabic family has 28 letters.</a:t>
            </a:r>
          </a:p>
          <a:p>
            <a:pPr marL="0" indent="0" algn="l">
              <a:buNone/>
            </a:pPr>
            <a:r>
              <a:rPr lang="ar-EG" dirty="0"/>
              <a:t>.</a:t>
            </a:r>
            <a:r>
              <a:rPr lang="en-US" dirty="0"/>
              <a:t>Read Arabic from right to left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ar-E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6" b="14029"/>
          <a:stretch/>
        </p:blipFill>
        <p:spPr>
          <a:xfrm>
            <a:off x="2339752" y="2924944"/>
            <a:ext cx="504056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2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 VOWLES</a:t>
            </a:r>
            <a:endParaRPr lang="ar-E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84784"/>
            <a:ext cx="7128792" cy="2376264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95" r="-258" b="35471"/>
          <a:stretch/>
        </p:blipFill>
        <p:spPr>
          <a:xfrm rot="19326656" flipV="1">
            <a:off x="861716" y="542870"/>
            <a:ext cx="1764733" cy="716892"/>
          </a:xfrm>
        </p:spPr>
      </p:pic>
      <p:sp>
        <p:nvSpPr>
          <p:cNvPr id="12" name="TextBox 11"/>
          <p:cNvSpPr txBox="1"/>
          <p:nvPr/>
        </p:nvSpPr>
        <p:spPr>
          <a:xfrm>
            <a:off x="5994317" y="3743035"/>
            <a:ext cx="194421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i="1" dirty="0" err="1">
                <a:solidFill>
                  <a:srgbClr val="C00000"/>
                </a:solidFill>
                <a:latin typeface="Berlin Sans FB Demi" pitchFamily="34" charset="0"/>
              </a:rPr>
              <a:t>Fatha</a:t>
            </a:r>
            <a:r>
              <a:rPr lang="en-US" sz="4000" b="1" i="1" dirty="0">
                <a:solidFill>
                  <a:srgbClr val="C00000"/>
                </a:solidFill>
                <a:latin typeface="Berlin Sans FB Demi" pitchFamily="34" charset="0"/>
              </a:rPr>
              <a:t> </a:t>
            </a:r>
            <a:endParaRPr lang="ar-EG" sz="4000" b="1" i="1" dirty="0">
              <a:solidFill>
                <a:srgbClr val="C00000"/>
              </a:solidFill>
              <a:latin typeface="Berlin Sans FB Demi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0" t="52698" r="32878" b="21911"/>
          <a:stretch/>
        </p:blipFill>
        <p:spPr>
          <a:xfrm>
            <a:off x="6516216" y="4484587"/>
            <a:ext cx="1296144" cy="15243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77961" y="3738129"/>
            <a:ext cx="1559786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4000" b="1" i="1" dirty="0" err="1">
                <a:solidFill>
                  <a:srgbClr val="C00000"/>
                </a:solidFill>
                <a:latin typeface="Arial Rounded MT Bold" pitchFamily="34" charset="0"/>
              </a:rPr>
              <a:t>kasra</a:t>
            </a:r>
            <a:endParaRPr lang="ar-EG" sz="4000" b="1" i="1" dirty="0">
              <a:solidFill>
                <a:srgbClr val="C0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616" y="3738129"/>
            <a:ext cx="237626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i="1" dirty="0" err="1">
                <a:solidFill>
                  <a:srgbClr val="C00000"/>
                </a:solidFill>
                <a:latin typeface="Berlin Sans FB Demi" pitchFamily="34" charset="0"/>
              </a:rPr>
              <a:t>Dumma</a:t>
            </a:r>
            <a:r>
              <a:rPr lang="en-US" sz="4000" b="1" i="1" dirty="0">
                <a:solidFill>
                  <a:srgbClr val="C00000"/>
                </a:solidFill>
                <a:latin typeface="Berlin Sans FB Demi" pitchFamily="34" charset="0"/>
              </a:rPr>
              <a:t> </a:t>
            </a:r>
            <a:endParaRPr lang="ar-EG" sz="4000" b="1" i="1" dirty="0">
              <a:solidFill>
                <a:srgbClr val="C00000"/>
              </a:solidFill>
              <a:latin typeface="Berlin Sans FB Demi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21128" r="16646" b="53150"/>
          <a:stretch/>
        </p:blipFill>
        <p:spPr>
          <a:xfrm>
            <a:off x="4049346" y="4564138"/>
            <a:ext cx="1800201" cy="144481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34256" r="29111" b="43590"/>
          <a:stretch/>
        </p:blipFill>
        <p:spPr>
          <a:xfrm>
            <a:off x="1382998" y="4524362"/>
            <a:ext cx="2011680" cy="14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3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>
            <a:hlinkClick r:id="rId2"/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83" r="99" b="51123"/>
          <a:stretch/>
        </p:blipFill>
        <p:spPr>
          <a:xfrm>
            <a:off x="2771800" y="1628800"/>
            <a:ext cx="4536504" cy="280831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23DC69-BAF2-6763-A447-2866E1787185}"/>
              </a:ext>
            </a:extLst>
          </p:cNvPr>
          <p:cNvSpPr/>
          <p:nvPr/>
        </p:nvSpPr>
        <p:spPr>
          <a:xfrm>
            <a:off x="4285982" y="4452086"/>
            <a:ext cx="2195148" cy="6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  <a:hlinkClick r:id="rId4"/>
              </a:rPr>
              <a:t>play now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3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29600" cy="1210146"/>
          </a:xfrm>
        </p:spPr>
        <p:txBody>
          <a:bodyPr>
            <a:normAutofit fontScale="90000"/>
          </a:bodyPr>
          <a:lstStyle/>
          <a:p>
            <a:r>
              <a:rPr lang="en-US" dirty="0"/>
              <a:t>Long vowels ( </a:t>
            </a:r>
            <a:r>
              <a:rPr lang="en-US" dirty="0" err="1"/>
              <a:t>Madd</a:t>
            </a:r>
            <a:r>
              <a:rPr lang="en-US" dirty="0"/>
              <a:t> )</a:t>
            </a:r>
            <a:br>
              <a:rPr lang="en-US" dirty="0"/>
            </a:br>
            <a:r>
              <a:rPr lang="ar-EG" b="1" dirty="0">
                <a:solidFill>
                  <a:srgbClr val="FF0000"/>
                </a:solidFill>
              </a:rPr>
              <a:t>( ا – و – ى )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endParaRPr lang="ar-E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568952" cy="4968552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 err="1"/>
              <a:t>Fatha</a:t>
            </a:r>
            <a:r>
              <a:rPr lang="en-US" b="1" dirty="0"/>
              <a:t> </a:t>
            </a:r>
            <a:r>
              <a:rPr lang="en-US" dirty="0" err="1"/>
              <a:t>follwed</a:t>
            </a:r>
            <a:r>
              <a:rPr lang="en-US" dirty="0"/>
              <a:t> by free</a:t>
            </a:r>
            <a:r>
              <a:rPr lang="en-US" b="1" dirty="0"/>
              <a:t> </a:t>
            </a:r>
            <a:r>
              <a:rPr lang="en-US" b="1" dirty="0" err="1"/>
              <a:t>alif</a:t>
            </a:r>
            <a:r>
              <a:rPr lang="en-US" b="1" dirty="0"/>
              <a:t>                 </a:t>
            </a:r>
            <a:r>
              <a:rPr lang="en-US" b="1" dirty="0" err="1"/>
              <a:t>alif</a:t>
            </a:r>
            <a:r>
              <a:rPr lang="en-US" b="1" dirty="0"/>
              <a:t> </a:t>
            </a:r>
            <a:r>
              <a:rPr lang="en-US" b="1" dirty="0" err="1"/>
              <a:t>madd</a:t>
            </a:r>
            <a:endParaRPr lang="en-US" b="1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ar-EG" dirty="0"/>
              <a:t>     </a:t>
            </a:r>
            <a:r>
              <a:rPr lang="en-US" b="1" dirty="0" err="1"/>
              <a:t>Kasra</a:t>
            </a:r>
            <a:r>
              <a:rPr lang="en-US" b="1" dirty="0"/>
              <a:t> </a:t>
            </a:r>
            <a:r>
              <a:rPr lang="en-US" dirty="0"/>
              <a:t>followed by free </a:t>
            </a:r>
            <a:r>
              <a:rPr lang="en-US" b="1" dirty="0" err="1"/>
              <a:t>yaa</a:t>
            </a:r>
            <a:r>
              <a:rPr lang="en-US" dirty="0"/>
              <a:t>               </a:t>
            </a:r>
            <a:r>
              <a:rPr lang="en-US" b="1" dirty="0" err="1"/>
              <a:t>yaa</a:t>
            </a:r>
            <a:r>
              <a:rPr lang="en-US" b="1" dirty="0"/>
              <a:t> </a:t>
            </a:r>
            <a:r>
              <a:rPr lang="en-US" b="1" dirty="0" err="1"/>
              <a:t>madd</a:t>
            </a:r>
            <a:r>
              <a:rPr lang="en-US" dirty="0"/>
              <a:t> 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b="1" dirty="0" err="1"/>
              <a:t>dummah</a:t>
            </a:r>
            <a:r>
              <a:rPr lang="en-US" dirty="0"/>
              <a:t> followed by free </a:t>
            </a:r>
            <a:r>
              <a:rPr lang="en-US" b="1" dirty="0" err="1"/>
              <a:t>waw</a:t>
            </a:r>
            <a:r>
              <a:rPr lang="en-US" b="1" dirty="0"/>
              <a:t>       </a:t>
            </a:r>
            <a:r>
              <a:rPr lang="en-US" b="1" dirty="0" err="1"/>
              <a:t>waw</a:t>
            </a:r>
            <a:r>
              <a:rPr lang="en-US" b="1" dirty="0"/>
              <a:t> </a:t>
            </a:r>
            <a:r>
              <a:rPr lang="en-US" b="1" dirty="0" err="1"/>
              <a:t>madd</a:t>
            </a:r>
            <a:r>
              <a:rPr lang="en-US" dirty="0"/>
              <a:t> </a:t>
            </a:r>
            <a:endParaRPr lang="ar-EG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809728" y="1988840"/>
            <a:ext cx="12744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1701336"/>
              </p:ext>
            </p:extLst>
          </p:nvPr>
        </p:nvGraphicFramePr>
        <p:xfrm>
          <a:off x="395536" y="2204864"/>
          <a:ext cx="8136904" cy="64807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64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سَ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سَا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سَاءَ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015983"/>
              </p:ext>
            </p:extLst>
          </p:nvPr>
        </p:nvGraphicFramePr>
        <p:xfrm>
          <a:off x="395536" y="3356992"/>
          <a:ext cx="8229600" cy="64807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بِ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بِى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خَبِير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349454"/>
              </p:ext>
            </p:extLst>
          </p:nvPr>
        </p:nvGraphicFramePr>
        <p:xfrm>
          <a:off x="395536" y="4725144"/>
          <a:ext cx="8229600" cy="7200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حُ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حُو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3600" dirty="0">
                          <a:solidFill>
                            <a:schemeClr val="tx1"/>
                          </a:solidFill>
                        </a:rPr>
                        <a:t>حُوت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4962128" y="3140968"/>
            <a:ext cx="1122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55494" y="4335189"/>
            <a:ext cx="46469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81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>
            <a:hlinkClick r:id="rId2"/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83" r="99" b="51123"/>
          <a:stretch/>
        </p:blipFill>
        <p:spPr>
          <a:xfrm>
            <a:off x="2915816" y="1412776"/>
            <a:ext cx="3354696" cy="312494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39FF34-1BC6-484D-B92A-B1A18FE18571}"/>
              </a:ext>
            </a:extLst>
          </p:cNvPr>
          <p:cNvSpPr/>
          <p:nvPr/>
        </p:nvSpPr>
        <p:spPr>
          <a:xfrm>
            <a:off x="3988340" y="4961106"/>
            <a:ext cx="2237361" cy="632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  <a:hlinkClick r:id="rId4"/>
              </a:rPr>
              <a:t>play now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2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4675</TotalTime>
  <Words>58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Revision </vt:lpstr>
      <vt:lpstr>SHORT VOWLES</vt:lpstr>
      <vt:lpstr>PowerPoint Presentation</vt:lpstr>
      <vt:lpstr>Long vowels ( Madd ) ( ا – و – ى 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28</cp:revision>
  <dcterms:created xsi:type="dcterms:W3CDTF">2025-09-27T21:24:20Z</dcterms:created>
  <dcterms:modified xsi:type="dcterms:W3CDTF">2025-10-02T18:21:45Z</dcterms:modified>
</cp:coreProperties>
</file>